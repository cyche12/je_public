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60" r:id="rId4"/>
    <p:sldId id="258" r:id="rId5"/>
    <p:sldId id="259" r:id="rId6"/>
    <p:sldId id="263"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27"/>
    <p:restoredTop sz="94648"/>
  </p:normalViewPr>
  <p:slideViewPr>
    <p:cSldViewPr snapToGrid="0" snapToObjects="1">
      <p:cViewPr varScale="1">
        <p:scale>
          <a:sx n="78" d="100"/>
          <a:sy n="78" d="100"/>
        </p:scale>
        <p:origin x="108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Valair" userId="2c3c8036-f0dd-4101-a5af-d3d21d0397e3" providerId="ADAL" clId="{360EDF82-D6EC-41F0-9884-BDCA0332091F}"/>
    <pc:docChg chg="undo custSel modSld">
      <pc:chgData name="Scott Valair" userId="2c3c8036-f0dd-4101-a5af-d3d21d0397e3" providerId="ADAL" clId="{360EDF82-D6EC-41F0-9884-BDCA0332091F}" dt="2024-08-08T18:53:21.521" v="1639" actId="15"/>
      <pc:docMkLst>
        <pc:docMk/>
      </pc:docMkLst>
      <pc:sldChg chg="modSp mod">
        <pc:chgData name="Scott Valair" userId="2c3c8036-f0dd-4101-a5af-d3d21d0397e3" providerId="ADAL" clId="{360EDF82-D6EC-41F0-9884-BDCA0332091F}" dt="2024-08-08T18:23:20.973" v="204" actId="20577"/>
        <pc:sldMkLst>
          <pc:docMk/>
          <pc:sldMk cId="274162898" sldId="257"/>
        </pc:sldMkLst>
        <pc:spChg chg="mod">
          <ac:chgData name="Scott Valair" userId="2c3c8036-f0dd-4101-a5af-d3d21d0397e3" providerId="ADAL" clId="{360EDF82-D6EC-41F0-9884-BDCA0332091F}" dt="2024-08-08T18:23:20.973" v="204" actId="20577"/>
          <ac:spMkLst>
            <pc:docMk/>
            <pc:sldMk cId="274162898" sldId="257"/>
            <ac:spMk id="3" creationId="{00000000-0000-0000-0000-000000000000}"/>
          </ac:spMkLst>
        </pc:spChg>
      </pc:sldChg>
      <pc:sldChg chg="modSp mod">
        <pc:chgData name="Scott Valair" userId="2c3c8036-f0dd-4101-a5af-d3d21d0397e3" providerId="ADAL" clId="{360EDF82-D6EC-41F0-9884-BDCA0332091F}" dt="2024-08-08T18:29:35.332" v="539" actId="20577"/>
        <pc:sldMkLst>
          <pc:docMk/>
          <pc:sldMk cId="1720760784" sldId="258"/>
        </pc:sldMkLst>
        <pc:spChg chg="mod">
          <ac:chgData name="Scott Valair" userId="2c3c8036-f0dd-4101-a5af-d3d21d0397e3" providerId="ADAL" clId="{360EDF82-D6EC-41F0-9884-BDCA0332091F}" dt="2024-08-08T18:29:35.332" v="539" actId="20577"/>
          <ac:spMkLst>
            <pc:docMk/>
            <pc:sldMk cId="1720760784" sldId="258"/>
            <ac:spMk id="3" creationId="{00000000-0000-0000-0000-000000000000}"/>
          </ac:spMkLst>
        </pc:spChg>
      </pc:sldChg>
      <pc:sldChg chg="modSp mod">
        <pc:chgData name="Scott Valair" userId="2c3c8036-f0dd-4101-a5af-d3d21d0397e3" providerId="ADAL" clId="{360EDF82-D6EC-41F0-9884-BDCA0332091F}" dt="2024-08-08T18:38:28.472" v="843" actId="113"/>
        <pc:sldMkLst>
          <pc:docMk/>
          <pc:sldMk cId="149933916" sldId="259"/>
        </pc:sldMkLst>
        <pc:spChg chg="mod">
          <ac:chgData name="Scott Valair" userId="2c3c8036-f0dd-4101-a5af-d3d21d0397e3" providerId="ADAL" clId="{360EDF82-D6EC-41F0-9884-BDCA0332091F}" dt="2024-08-08T18:38:28.472" v="843" actId="113"/>
          <ac:spMkLst>
            <pc:docMk/>
            <pc:sldMk cId="149933916" sldId="259"/>
            <ac:spMk id="3" creationId="{00000000-0000-0000-0000-000000000000}"/>
          </ac:spMkLst>
        </pc:spChg>
      </pc:sldChg>
      <pc:sldChg chg="modSp mod">
        <pc:chgData name="Scott Valair" userId="2c3c8036-f0dd-4101-a5af-d3d21d0397e3" providerId="ADAL" clId="{360EDF82-D6EC-41F0-9884-BDCA0332091F}" dt="2024-08-08T18:53:21.521" v="1639" actId="15"/>
        <pc:sldMkLst>
          <pc:docMk/>
          <pc:sldMk cId="2094543777" sldId="260"/>
        </pc:sldMkLst>
        <pc:spChg chg="mod">
          <ac:chgData name="Scott Valair" userId="2c3c8036-f0dd-4101-a5af-d3d21d0397e3" providerId="ADAL" clId="{360EDF82-D6EC-41F0-9884-BDCA0332091F}" dt="2024-08-08T18:53:21.521" v="1639" actId="15"/>
          <ac:spMkLst>
            <pc:docMk/>
            <pc:sldMk cId="2094543777" sldId="260"/>
            <ac:spMk id="3" creationId="{00000000-0000-0000-0000-000000000000}"/>
          </ac:spMkLst>
        </pc:spChg>
      </pc:sldChg>
      <pc:sldChg chg="modSp mod">
        <pc:chgData name="Scott Valair" userId="2c3c8036-f0dd-4101-a5af-d3d21d0397e3" providerId="ADAL" clId="{360EDF82-D6EC-41F0-9884-BDCA0332091F}" dt="2024-08-08T18:18:39.786" v="12" actId="6549"/>
        <pc:sldMkLst>
          <pc:docMk/>
          <pc:sldMk cId="2027274453" sldId="261"/>
        </pc:sldMkLst>
        <pc:spChg chg="mod">
          <ac:chgData name="Scott Valair" userId="2c3c8036-f0dd-4101-a5af-d3d21d0397e3" providerId="ADAL" clId="{360EDF82-D6EC-41F0-9884-BDCA0332091F}" dt="2024-08-08T18:18:39.786" v="12" actId="6549"/>
          <ac:spMkLst>
            <pc:docMk/>
            <pc:sldMk cId="2027274453" sldId="261"/>
            <ac:spMk id="3" creationId="{00000000-0000-0000-0000-000000000000}"/>
          </ac:spMkLst>
        </pc:spChg>
      </pc:sldChg>
      <pc:sldChg chg="modSp mod">
        <pc:chgData name="Scott Valair" userId="2c3c8036-f0dd-4101-a5af-d3d21d0397e3" providerId="ADAL" clId="{360EDF82-D6EC-41F0-9884-BDCA0332091F}" dt="2024-08-08T18:50:34.336" v="1634" actId="27636"/>
        <pc:sldMkLst>
          <pc:docMk/>
          <pc:sldMk cId="1853197486" sldId="262"/>
        </pc:sldMkLst>
        <pc:spChg chg="mod">
          <ac:chgData name="Scott Valair" userId="2c3c8036-f0dd-4101-a5af-d3d21d0397e3" providerId="ADAL" clId="{360EDF82-D6EC-41F0-9884-BDCA0332091F}" dt="2024-08-08T18:50:34.336" v="1634" actId="27636"/>
          <ac:spMkLst>
            <pc:docMk/>
            <pc:sldMk cId="1853197486" sldId="262"/>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74EAE46-C2D1-C040-8A48-001A5B27095A}" type="datetimeFigureOut">
              <a:rPr lang="en-US" smtClean="0"/>
              <a:t>8/8/2024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900651-6321-2F4E-B9DF-1A0EF7A8995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4473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4EAE46-C2D1-C040-8A48-001A5B27095A}" type="datetimeFigureOut">
              <a:rPr lang="en-US" smtClean="0"/>
              <a:t>8/8/2024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900651-6321-2F4E-B9DF-1A0EF7A89955}" type="slidenum">
              <a:rPr lang="en-US" smtClean="0"/>
              <a:t>‹#›</a:t>
            </a:fld>
            <a:endParaRPr lang="en-US"/>
          </a:p>
        </p:txBody>
      </p:sp>
    </p:spTree>
    <p:extLst>
      <p:ext uri="{BB962C8B-B14F-4D97-AF65-F5344CB8AC3E}">
        <p14:creationId xmlns:p14="http://schemas.microsoft.com/office/powerpoint/2010/main" val="1215465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4EAE46-C2D1-C040-8A48-001A5B27095A}" type="datetimeFigureOut">
              <a:rPr lang="en-US" smtClean="0"/>
              <a:t>8/8/2024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900651-6321-2F4E-B9DF-1A0EF7A8995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0191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4EAE46-C2D1-C040-8A48-001A5B27095A}" type="datetimeFigureOut">
              <a:rPr lang="en-US" smtClean="0"/>
              <a:t>8/8/2024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900651-6321-2F4E-B9DF-1A0EF7A89955}" type="slidenum">
              <a:rPr lang="en-US" smtClean="0"/>
              <a:t>‹#›</a:t>
            </a:fld>
            <a:endParaRPr lang="en-US"/>
          </a:p>
        </p:txBody>
      </p:sp>
    </p:spTree>
    <p:extLst>
      <p:ext uri="{BB962C8B-B14F-4D97-AF65-F5344CB8AC3E}">
        <p14:creationId xmlns:p14="http://schemas.microsoft.com/office/powerpoint/2010/main" val="562168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4EAE46-C2D1-C040-8A48-001A5B27095A}" type="datetimeFigureOut">
              <a:rPr lang="en-US" smtClean="0"/>
              <a:t>8/8/2024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900651-6321-2F4E-B9DF-1A0EF7A89955}" type="slidenum">
              <a:rPr lang="en-US" smtClean="0"/>
              <a:t>‹#›</a:t>
            </a:fld>
            <a:endParaRPr lang="en-US"/>
          </a:p>
        </p:txBody>
      </p:sp>
    </p:spTree>
    <p:extLst>
      <p:ext uri="{BB962C8B-B14F-4D97-AF65-F5344CB8AC3E}">
        <p14:creationId xmlns:p14="http://schemas.microsoft.com/office/powerpoint/2010/main" val="1589013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74EAE46-C2D1-C040-8A48-001A5B27095A}" type="datetimeFigureOut">
              <a:rPr lang="en-US" smtClean="0"/>
              <a:t>8/8/2024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900651-6321-2F4E-B9DF-1A0EF7A89955}" type="slidenum">
              <a:rPr lang="en-US" smtClean="0"/>
              <a:t>‹#›</a:t>
            </a:fld>
            <a:endParaRPr lang="en-US"/>
          </a:p>
        </p:txBody>
      </p:sp>
    </p:spTree>
    <p:extLst>
      <p:ext uri="{BB962C8B-B14F-4D97-AF65-F5344CB8AC3E}">
        <p14:creationId xmlns:p14="http://schemas.microsoft.com/office/powerpoint/2010/main" val="435613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74EAE46-C2D1-C040-8A48-001A5B27095A}" type="datetimeFigureOut">
              <a:rPr lang="en-US" smtClean="0"/>
              <a:t>8/8/2024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B900651-6321-2F4E-B9DF-1A0EF7A89955}" type="slidenum">
              <a:rPr lang="en-US" smtClean="0"/>
              <a:t>‹#›</a:t>
            </a:fld>
            <a:endParaRPr lang="en-US"/>
          </a:p>
        </p:txBody>
      </p:sp>
    </p:spTree>
    <p:extLst>
      <p:ext uri="{BB962C8B-B14F-4D97-AF65-F5344CB8AC3E}">
        <p14:creationId xmlns:p14="http://schemas.microsoft.com/office/powerpoint/2010/main" val="579686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74EAE46-C2D1-C040-8A48-001A5B27095A}" type="datetimeFigureOut">
              <a:rPr lang="en-US" smtClean="0"/>
              <a:t>8/8/2024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B900651-6321-2F4E-B9DF-1A0EF7A89955}" type="slidenum">
              <a:rPr lang="en-US" smtClean="0"/>
              <a:t>‹#›</a:t>
            </a:fld>
            <a:endParaRPr lang="en-US"/>
          </a:p>
        </p:txBody>
      </p:sp>
    </p:spTree>
    <p:extLst>
      <p:ext uri="{BB962C8B-B14F-4D97-AF65-F5344CB8AC3E}">
        <p14:creationId xmlns:p14="http://schemas.microsoft.com/office/powerpoint/2010/main" val="1802459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accent2"/>
          </a:solid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EAE46-C2D1-C040-8A48-001A5B27095A}" type="datetimeFigureOut">
              <a:rPr lang="en-US" smtClean="0"/>
              <a:t>8/8/2024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900651-6321-2F4E-B9DF-1A0EF7A89955}" type="slidenum">
              <a:rPr lang="en-US" smtClean="0"/>
              <a:t>‹#›</a:t>
            </a:fld>
            <a:endParaRPr lang="en-US"/>
          </a:p>
        </p:txBody>
      </p:sp>
    </p:spTree>
    <p:extLst>
      <p:ext uri="{BB962C8B-B14F-4D97-AF65-F5344CB8AC3E}">
        <p14:creationId xmlns:p14="http://schemas.microsoft.com/office/powerpoint/2010/main" val="1540458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4EAE46-C2D1-C040-8A48-001A5B27095A}" type="datetimeFigureOut">
              <a:rPr lang="en-US" smtClean="0"/>
              <a:t>8/8/2024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900651-6321-2F4E-B9DF-1A0EF7A89955}" type="slidenum">
              <a:rPr lang="en-US" smtClean="0"/>
              <a:t>‹#›</a:t>
            </a:fld>
            <a:endParaRPr lang="en-US"/>
          </a:p>
        </p:txBody>
      </p:sp>
    </p:spTree>
    <p:extLst>
      <p:ext uri="{BB962C8B-B14F-4D97-AF65-F5344CB8AC3E}">
        <p14:creationId xmlns:p14="http://schemas.microsoft.com/office/powerpoint/2010/main" val="422085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4EAE46-C2D1-C040-8A48-001A5B27095A}" type="datetimeFigureOut">
              <a:rPr lang="en-US" smtClean="0"/>
              <a:t>8/8/2024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900651-6321-2F4E-B9DF-1A0EF7A89955}" type="slidenum">
              <a:rPr lang="en-US" smtClean="0"/>
              <a:t>‹#›</a:t>
            </a:fld>
            <a:endParaRPr lang="en-US"/>
          </a:p>
        </p:txBody>
      </p:sp>
    </p:spTree>
    <p:extLst>
      <p:ext uri="{BB962C8B-B14F-4D97-AF65-F5344CB8AC3E}">
        <p14:creationId xmlns:p14="http://schemas.microsoft.com/office/powerpoint/2010/main" val="854529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74EAE46-C2D1-C040-8A48-001A5B27095A}" type="datetimeFigureOut">
              <a:rPr lang="en-US" smtClean="0"/>
              <a:t>8/8/2024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B900651-6321-2F4E-B9DF-1A0EF7A8995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27336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cyche12/GroupProject-CST8288.gi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0051" y="41703"/>
            <a:ext cx="10058400" cy="1891861"/>
          </a:xfrm>
        </p:spPr>
        <p:txBody>
          <a:bodyPr>
            <a:normAutofit/>
          </a:bodyPr>
          <a:lstStyle/>
          <a:p>
            <a:r>
              <a:rPr lang="en-US" dirty="0">
                <a:latin typeface="Charter Roman" charset="0"/>
                <a:ea typeface="Charter Roman" charset="0"/>
                <a:cs typeface="Charter Roman" charset="0"/>
              </a:rPr>
              <a:t>Final Project</a:t>
            </a:r>
            <a:br>
              <a:rPr lang="en-US" dirty="0">
                <a:latin typeface="Charter Roman" charset="0"/>
                <a:ea typeface="Charter Roman" charset="0"/>
                <a:cs typeface="Charter Roman" charset="0"/>
              </a:rPr>
            </a:br>
            <a:r>
              <a:rPr lang="en-US" sz="3600" dirty="0">
                <a:latin typeface="Charter Roman" charset="0"/>
                <a:ea typeface="Charter Roman" charset="0"/>
                <a:cs typeface="Charter Roman" charset="0"/>
              </a:rPr>
              <a:t>Food Waste Reduction Platform</a:t>
            </a:r>
          </a:p>
        </p:txBody>
      </p:sp>
      <p:sp>
        <p:nvSpPr>
          <p:cNvPr id="3" name="Subtitle 2"/>
          <p:cNvSpPr>
            <a:spLocks noGrp="1"/>
          </p:cNvSpPr>
          <p:nvPr>
            <p:ph type="subTitle" idx="1"/>
          </p:nvPr>
        </p:nvSpPr>
        <p:spPr>
          <a:xfrm>
            <a:off x="1198374" y="2566219"/>
            <a:ext cx="10058400" cy="4090219"/>
          </a:xfrm>
        </p:spPr>
        <p:txBody>
          <a:bodyPr>
            <a:normAutofit/>
          </a:bodyPr>
          <a:lstStyle/>
          <a:p>
            <a:r>
              <a:rPr lang="en-US" dirty="0">
                <a:latin typeface="Charter Roman"/>
                <a:ea typeface="Charter Roman" charset="0"/>
                <a:cs typeface="Charter Roman" charset="0"/>
              </a:rPr>
              <a:t>Class: CST-8288</a:t>
            </a:r>
            <a:br>
              <a:rPr lang="en-US" dirty="0">
                <a:latin typeface="Charter Roman"/>
                <a:ea typeface="Charter Roman" charset="0"/>
                <a:cs typeface="Charter Roman" charset="0"/>
              </a:rPr>
            </a:br>
            <a:r>
              <a:rPr lang="en-US" dirty="0">
                <a:latin typeface="Charter Roman"/>
                <a:ea typeface="Charter Roman" charset="0"/>
                <a:cs typeface="Charter Roman" charset="0"/>
              </a:rPr>
              <a:t>Section: 032</a:t>
            </a:r>
          </a:p>
          <a:p>
            <a:r>
              <a:rPr lang="en-US" dirty="0">
                <a:latin typeface="Charter Roman"/>
                <a:ea typeface="Charter Roman" charset="0"/>
                <a:cs typeface="Charter Roman" charset="0"/>
              </a:rPr>
              <a:t>Professor: Islam </a:t>
            </a:r>
            <a:r>
              <a:rPr lang="en-US" dirty="0" err="1">
                <a:latin typeface="Charter Roman"/>
                <a:ea typeface="Charter Roman" charset="0"/>
                <a:cs typeface="Charter Roman" charset="0"/>
              </a:rPr>
              <a:t>GOmaa</a:t>
            </a:r>
            <a:endParaRPr lang="en-US" dirty="0">
              <a:latin typeface="Charter Roman"/>
              <a:ea typeface="Charter Roman" charset="0"/>
              <a:cs typeface="Charter Roman" charset="0"/>
            </a:endParaRPr>
          </a:p>
          <a:p>
            <a:r>
              <a:rPr lang="en-US" dirty="0">
                <a:latin typeface="Charter Roman"/>
                <a:ea typeface="Charter Roman" charset="0"/>
                <a:cs typeface="Charter Roman" charset="0"/>
              </a:rPr>
              <a:t>Group Members:</a:t>
            </a:r>
          </a:p>
          <a:p>
            <a:r>
              <a:rPr lang="en-US" dirty="0">
                <a:latin typeface="Charter Roman"/>
                <a:ea typeface="Charter Roman" charset="0"/>
                <a:cs typeface="Charter Roman" charset="0"/>
              </a:rPr>
              <a:t>Jake Elliott - </a:t>
            </a:r>
            <a:r>
              <a:rPr lang="en-CA" dirty="0">
                <a:effectLst/>
                <a:latin typeface="Charter Roman"/>
                <a:ea typeface="Arial" panose="020B0604020202020204" pitchFamily="34" charset="0"/>
                <a:cs typeface="Arial" panose="020B0604020202020204" pitchFamily="34" charset="0"/>
              </a:rPr>
              <a:t>40732505</a:t>
            </a:r>
            <a:br>
              <a:rPr lang="en-US" dirty="0">
                <a:latin typeface="Charter Roman"/>
                <a:ea typeface="Charter Roman" charset="0"/>
                <a:cs typeface="Charter Roman" charset="0"/>
              </a:rPr>
            </a:br>
            <a:r>
              <a:rPr lang="en-US" dirty="0">
                <a:latin typeface="Charter Roman"/>
                <a:ea typeface="Charter Roman" charset="0"/>
                <a:cs typeface="Charter Roman" charset="0"/>
              </a:rPr>
              <a:t>Navjot </a:t>
            </a:r>
            <a:r>
              <a:rPr lang="en-US" dirty="0" err="1">
                <a:latin typeface="Charter Roman"/>
                <a:ea typeface="Charter Roman" charset="0"/>
                <a:cs typeface="Charter Roman" charset="0"/>
              </a:rPr>
              <a:t>kaur</a:t>
            </a:r>
            <a:r>
              <a:rPr lang="en-US" dirty="0">
                <a:latin typeface="Charter Roman"/>
                <a:ea typeface="Charter Roman" charset="0"/>
                <a:cs typeface="Charter Roman" charset="0"/>
              </a:rPr>
              <a:t> - </a:t>
            </a:r>
            <a:r>
              <a:rPr lang="en-CA" dirty="0">
                <a:effectLst/>
                <a:latin typeface="Charter Roman"/>
                <a:ea typeface="Arial" panose="020B0604020202020204" pitchFamily="34" charset="0"/>
                <a:cs typeface="Arial" panose="020B0604020202020204" pitchFamily="34" charset="0"/>
              </a:rPr>
              <a:t>041085639</a:t>
            </a:r>
            <a:br>
              <a:rPr lang="en-US" dirty="0">
                <a:latin typeface="Charter Roman"/>
                <a:ea typeface="Charter Roman" charset="0"/>
                <a:cs typeface="Charter Roman" charset="0"/>
              </a:rPr>
            </a:br>
            <a:r>
              <a:rPr lang="en-US" dirty="0">
                <a:latin typeface="Charter Roman"/>
                <a:ea typeface="Charter Roman" charset="0"/>
                <a:cs typeface="Charter Roman" charset="0"/>
              </a:rPr>
              <a:t>Scott </a:t>
            </a:r>
            <a:r>
              <a:rPr lang="en-US" dirty="0" err="1">
                <a:latin typeface="Charter Roman"/>
                <a:ea typeface="Charter Roman" charset="0"/>
                <a:cs typeface="Charter Roman" charset="0"/>
              </a:rPr>
              <a:t>ValaiR</a:t>
            </a:r>
            <a:r>
              <a:rPr lang="en-US" dirty="0">
                <a:latin typeface="Charter Roman"/>
                <a:ea typeface="Charter Roman" charset="0"/>
                <a:cs typeface="Charter Roman" charset="0"/>
              </a:rPr>
              <a:t> - </a:t>
            </a:r>
            <a:r>
              <a:rPr lang="en-CA" dirty="0">
                <a:effectLst/>
                <a:latin typeface="Charter Roman"/>
                <a:ea typeface="Arial" panose="020B0604020202020204" pitchFamily="34" charset="0"/>
                <a:cs typeface="Arial" panose="020B0604020202020204" pitchFamily="34" charset="0"/>
              </a:rPr>
              <a:t>041100154</a:t>
            </a:r>
            <a:br>
              <a:rPr lang="en-US" dirty="0">
                <a:latin typeface="Charter Roman"/>
                <a:ea typeface="Charter Roman" charset="0"/>
                <a:cs typeface="Charter Roman" charset="0"/>
              </a:rPr>
            </a:br>
            <a:r>
              <a:rPr lang="en-US" dirty="0" err="1">
                <a:latin typeface="Charter Roman"/>
                <a:ea typeface="Charter Roman" charset="0"/>
                <a:cs typeface="Charter Roman" charset="0"/>
              </a:rPr>
              <a:t>Heeseok</a:t>
            </a:r>
            <a:r>
              <a:rPr lang="en-US" dirty="0">
                <a:latin typeface="Charter Roman"/>
                <a:ea typeface="Charter Roman" charset="0"/>
                <a:cs typeface="Charter Roman" charset="0"/>
              </a:rPr>
              <a:t> yang - </a:t>
            </a:r>
            <a:r>
              <a:rPr lang="en-CA" b="0" i="0" dirty="0">
                <a:effectLst/>
                <a:latin typeface="Charter Roman"/>
              </a:rPr>
              <a:t>041095563</a:t>
            </a:r>
            <a:endParaRPr lang="en-US" dirty="0">
              <a:latin typeface="Charter Roman"/>
              <a:ea typeface="Charter Roman" charset="0"/>
              <a:cs typeface="Charter Roman" charset="0"/>
            </a:endParaRPr>
          </a:p>
        </p:txBody>
      </p:sp>
    </p:spTree>
    <p:extLst>
      <p:ext uri="{BB962C8B-B14F-4D97-AF65-F5344CB8AC3E}">
        <p14:creationId xmlns:p14="http://schemas.microsoft.com/office/powerpoint/2010/main" val="280811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rter Roman" charset="0"/>
                <a:ea typeface="Charter Roman" charset="0"/>
                <a:cs typeface="Charter Roman" charset="0"/>
              </a:rPr>
              <a:t>Teamwork</a:t>
            </a:r>
          </a:p>
        </p:txBody>
      </p:sp>
      <p:sp>
        <p:nvSpPr>
          <p:cNvPr id="3" name="Content Placeholder 2"/>
          <p:cNvSpPr>
            <a:spLocks noGrp="1"/>
          </p:cNvSpPr>
          <p:nvPr>
            <p:ph idx="1"/>
          </p:nvPr>
        </p:nvSpPr>
        <p:spPr/>
        <p:txBody>
          <a:bodyPr/>
          <a:lstStyle/>
          <a:p>
            <a:pPr lvl="1"/>
            <a:r>
              <a:rPr lang="en-US" dirty="0">
                <a:latin typeface="Charter Roman" charset="0"/>
                <a:ea typeface="Charter Roman" charset="0"/>
                <a:cs typeface="Charter Roman" charset="0"/>
              </a:rPr>
              <a:t>Who did what?</a:t>
            </a:r>
          </a:p>
          <a:p>
            <a:pPr lvl="2"/>
            <a:r>
              <a:rPr lang="en-US" dirty="0">
                <a:latin typeface="Charter Roman" charset="0"/>
                <a:ea typeface="Charter Roman" charset="0"/>
                <a:cs typeface="Charter Roman" charset="0"/>
              </a:rPr>
              <a:t>Scott – Retailers</a:t>
            </a:r>
          </a:p>
          <a:p>
            <a:pPr lvl="2"/>
            <a:r>
              <a:rPr lang="en-US" dirty="0">
                <a:latin typeface="Charter Roman" charset="0"/>
                <a:ea typeface="Charter Roman" charset="0"/>
                <a:cs typeface="Charter Roman" charset="0"/>
              </a:rPr>
              <a:t>Navjot – User Registration</a:t>
            </a:r>
          </a:p>
          <a:p>
            <a:pPr lvl="2"/>
            <a:r>
              <a:rPr lang="en-US" dirty="0" err="1">
                <a:latin typeface="Charter Roman" charset="0"/>
                <a:ea typeface="Charter Roman" charset="0"/>
                <a:cs typeface="Charter Roman" charset="0"/>
              </a:rPr>
              <a:t>Heeseok</a:t>
            </a:r>
            <a:r>
              <a:rPr lang="en-US" dirty="0">
                <a:latin typeface="Charter Roman" charset="0"/>
                <a:ea typeface="Charter Roman" charset="0"/>
                <a:cs typeface="Charter Roman" charset="0"/>
              </a:rPr>
              <a:t> – Charitable organizations</a:t>
            </a:r>
          </a:p>
          <a:p>
            <a:pPr lvl="2"/>
            <a:r>
              <a:rPr lang="en-US" dirty="0">
                <a:latin typeface="Charter Roman" charset="0"/>
                <a:ea typeface="Charter Roman" charset="0"/>
                <a:cs typeface="Charter Roman" charset="0"/>
              </a:rPr>
              <a:t>Jake – Consumers &amp; Database</a:t>
            </a:r>
          </a:p>
          <a:p>
            <a:pPr lvl="2"/>
            <a:endParaRPr lang="en-US" dirty="0">
              <a:latin typeface="Charter Roman" charset="0"/>
              <a:ea typeface="Charter Roman" charset="0"/>
              <a:cs typeface="Charter Roman" charset="0"/>
            </a:endParaRPr>
          </a:p>
          <a:p>
            <a:pPr lvl="1"/>
            <a:r>
              <a:rPr lang="en-US" dirty="0">
                <a:latin typeface="Charter Roman" charset="0"/>
                <a:ea typeface="Charter Roman" charset="0"/>
                <a:cs typeface="Charter Roman" charset="0"/>
              </a:rPr>
              <a:t>How often you meet?</a:t>
            </a:r>
          </a:p>
          <a:p>
            <a:pPr lvl="2"/>
            <a:r>
              <a:rPr lang="en-US" dirty="0">
                <a:latin typeface="Charter Roman" charset="0"/>
                <a:ea typeface="Charter Roman" charset="0"/>
                <a:cs typeface="Charter Roman" charset="0"/>
              </a:rPr>
              <a:t>Weekly on Tuesdays before class.</a:t>
            </a:r>
          </a:p>
          <a:p>
            <a:pPr lvl="2"/>
            <a:endParaRPr lang="en-US" dirty="0">
              <a:latin typeface="Charter Roman" charset="0"/>
              <a:ea typeface="Charter Roman" charset="0"/>
              <a:cs typeface="Charter Roman" charset="0"/>
            </a:endParaRPr>
          </a:p>
          <a:p>
            <a:pPr lvl="1"/>
            <a:r>
              <a:rPr lang="en-US" dirty="0">
                <a:latin typeface="Charter Roman" charset="0"/>
                <a:ea typeface="Charter Roman" charset="0"/>
                <a:cs typeface="Charter Roman" charset="0"/>
              </a:rPr>
              <a:t>How did you collaborate?</a:t>
            </a:r>
          </a:p>
          <a:p>
            <a:pPr lvl="2"/>
            <a:r>
              <a:rPr lang="en-US" dirty="0">
                <a:latin typeface="Charter Roman" charset="0"/>
                <a:ea typeface="Charter Roman" charset="0"/>
                <a:cs typeface="Charter Roman" charset="0"/>
              </a:rPr>
              <a:t>In person &amp; virtually on discord.</a:t>
            </a:r>
          </a:p>
        </p:txBody>
      </p:sp>
    </p:spTree>
    <p:extLst>
      <p:ext uri="{BB962C8B-B14F-4D97-AF65-F5344CB8AC3E}">
        <p14:creationId xmlns:p14="http://schemas.microsoft.com/office/powerpoint/2010/main" val="274162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rter Roman" charset="0"/>
                <a:ea typeface="Charter Roman" charset="0"/>
                <a:cs typeface="Charter Roman" charset="0"/>
              </a:rPr>
              <a:t>Solution</a:t>
            </a:r>
          </a:p>
        </p:txBody>
      </p:sp>
      <p:sp>
        <p:nvSpPr>
          <p:cNvPr id="3" name="Content Placeholder 2"/>
          <p:cNvSpPr>
            <a:spLocks noGrp="1"/>
          </p:cNvSpPr>
          <p:nvPr>
            <p:ph idx="1"/>
          </p:nvPr>
        </p:nvSpPr>
        <p:spPr/>
        <p:txBody>
          <a:bodyPr>
            <a:normAutofit fontScale="92500" lnSpcReduction="20000"/>
          </a:bodyPr>
          <a:lstStyle/>
          <a:p>
            <a:pPr lvl="1"/>
            <a:r>
              <a:rPr lang="en-US" dirty="0">
                <a:latin typeface="Charter Roman" charset="0"/>
                <a:ea typeface="Charter Roman" charset="0"/>
                <a:cs typeface="Charter Roman" charset="0"/>
              </a:rPr>
              <a:t>How did you put everything together for your project?</a:t>
            </a:r>
          </a:p>
          <a:p>
            <a:pPr lvl="2"/>
            <a:r>
              <a:rPr lang="en-US" dirty="0">
                <a:latin typeface="Charter Roman" charset="0"/>
                <a:ea typeface="Charter Roman" charset="0"/>
                <a:cs typeface="Charter Roman" charset="0"/>
              </a:rPr>
              <a:t>High-Level Design</a:t>
            </a:r>
          </a:p>
          <a:p>
            <a:pPr lvl="3"/>
            <a:r>
              <a:rPr lang="en-US" dirty="0">
                <a:latin typeface="Charter Roman" charset="0"/>
                <a:ea typeface="Charter Roman" charset="0"/>
                <a:cs typeface="Charter Roman" charset="0"/>
              </a:rPr>
              <a:t>Created a structured plan covering application architecture, data flow, and component interaction.</a:t>
            </a:r>
          </a:p>
          <a:p>
            <a:pPr lvl="3"/>
            <a:r>
              <a:rPr lang="en-US" dirty="0">
                <a:latin typeface="Charter Roman" charset="0"/>
                <a:ea typeface="Charter Roman" charset="0"/>
                <a:cs typeface="Charter Roman" charset="0"/>
              </a:rPr>
              <a:t>Developed a clear scope and targeted audience for the project.</a:t>
            </a:r>
          </a:p>
          <a:p>
            <a:pPr lvl="3"/>
            <a:endParaRPr lang="en-US" dirty="0">
              <a:latin typeface="Charter Roman" charset="0"/>
              <a:ea typeface="Charter Roman" charset="0"/>
              <a:cs typeface="Charter Roman" charset="0"/>
            </a:endParaRPr>
          </a:p>
          <a:p>
            <a:pPr lvl="1"/>
            <a:r>
              <a:rPr lang="en-US" dirty="0">
                <a:latin typeface="Charter Roman" charset="0"/>
                <a:ea typeface="Charter Roman" charset="0"/>
                <a:cs typeface="Charter Roman" charset="0"/>
              </a:rPr>
              <a:t>Use of any external libraries</a:t>
            </a:r>
          </a:p>
          <a:p>
            <a:pPr lvl="2"/>
            <a:r>
              <a:rPr lang="en-US" dirty="0">
                <a:latin typeface="Charter Roman" charset="0"/>
                <a:ea typeface="Charter Roman" charset="0"/>
                <a:cs typeface="Charter Roman" charset="0"/>
              </a:rPr>
              <a:t>MySQL Connector/J</a:t>
            </a:r>
          </a:p>
          <a:p>
            <a:pPr lvl="3"/>
            <a:r>
              <a:rPr lang="en-US" dirty="0">
                <a:latin typeface="Charter Roman" charset="0"/>
                <a:ea typeface="Charter Roman" charset="0"/>
                <a:cs typeface="Charter Roman" charset="0"/>
              </a:rPr>
              <a:t>Utilized MySQL Connector/J to integrate the application with MySQL databases.</a:t>
            </a:r>
          </a:p>
          <a:p>
            <a:pPr lvl="3"/>
            <a:r>
              <a:rPr lang="en-US" dirty="0">
                <a:latin typeface="Charter Roman" charset="0"/>
                <a:ea typeface="Charter Roman" charset="0"/>
                <a:cs typeface="Charter Roman" charset="0"/>
              </a:rPr>
              <a:t>Ensured seamless communication between Java applications and the database.</a:t>
            </a:r>
          </a:p>
          <a:p>
            <a:pPr lvl="2"/>
            <a:endParaRPr lang="en-US" dirty="0">
              <a:latin typeface="Charter Roman" charset="0"/>
              <a:ea typeface="Charter Roman" charset="0"/>
              <a:cs typeface="Charter Roman" charset="0"/>
            </a:endParaRPr>
          </a:p>
          <a:p>
            <a:pPr lvl="1"/>
            <a:r>
              <a:rPr lang="en-US" dirty="0">
                <a:latin typeface="Charter Roman" charset="0"/>
                <a:ea typeface="Charter Roman" charset="0"/>
                <a:cs typeface="Charter Roman" charset="0"/>
              </a:rPr>
              <a:t>Design pattern used</a:t>
            </a:r>
          </a:p>
          <a:p>
            <a:pPr lvl="2"/>
            <a:r>
              <a:rPr lang="en-US" dirty="0">
                <a:latin typeface="Charter Roman" charset="0"/>
                <a:ea typeface="Charter Roman" charset="0"/>
                <a:cs typeface="Charter Roman" charset="0"/>
              </a:rPr>
              <a:t>Applied the MVC design pattern to separate concerns, making the application modular and maintainable.</a:t>
            </a:r>
          </a:p>
          <a:p>
            <a:pPr lvl="2"/>
            <a:endParaRPr lang="en-US" dirty="0">
              <a:latin typeface="Charter Roman" charset="0"/>
              <a:ea typeface="Charter Roman" charset="0"/>
              <a:cs typeface="Charter Roman" charset="0"/>
            </a:endParaRPr>
          </a:p>
          <a:p>
            <a:pPr lvl="1"/>
            <a:r>
              <a:rPr lang="en-US" dirty="0">
                <a:latin typeface="Charter Roman" charset="0"/>
                <a:ea typeface="Charter Roman" charset="0"/>
                <a:cs typeface="Charter Roman" charset="0"/>
              </a:rPr>
              <a:t>Junit and Code coverage</a:t>
            </a:r>
          </a:p>
          <a:p>
            <a:pPr lvl="2"/>
            <a:r>
              <a:rPr lang="en-US" dirty="0">
                <a:latin typeface="Charter Roman" charset="0"/>
                <a:ea typeface="Charter Roman" charset="0"/>
                <a:cs typeface="Charter Roman" charset="0"/>
              </a:rPr>
              <a:t>Testing and Quality Assurance</a:t>
            </a:r>
          </a:p>
          <a:p>
            <a:pPr lvl="3"/>
            <a:r>
              <a:rPr lang="en-US" dirty="0">
                <a:latin typeface="Charter Roman" charset="0"/>
                <a:ea typeface="Charter Roman" charset="0"/>
                <a:cs typeface="Charter Roman" charset="0"/>
              </a:rPr>
              <a:t>Implemented unit tests using JUnit to validate functionality.</a:t>
            </a:r>
          </a:p>
          <a:p>
            <a:pPr lvl="3"/>
            <a:r>
              <a:rPr lang="en-US" dirty="0">
                <a:latin typeface="Charter Roman" charset="0"/>
                <a:ea typeface="Charter Roman" charset="0"/>
                <a:cs typeface="Charter Roman" charset="0"/>
              </a:rPr>
              <a:t>Ensured high code coverage to maintain quality and detect potential issues early.</a:t>
            </a:r>
          </a:p>
        </p:txBody>
      </p:sp>
    </p:spTree>
    <p:extLst>
      <p:ext uri="{BB962C8B-B14F-4D97-AF65-F5344CB8AC3E}">
        <p14:creationId xmlns:p14="http://schemas.microsoft.com/office/powerpoint/2010/main" val="2094543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rter Roman" charset="0"/>
                <a:ea typeface="Charter Roman" charset="0"/>
                <a:cs typeface="Charter Roman" charset="0"/>
              </a:rPr>
              <a:t>Version Control System</a:t>
            </a:r>
          </a:p>
        </p:txBody>
      </p:sp>
      <p:sp>
        <p:nvSpPr>
          <p:cNvPr id="3" name="Content Placeholder 2"/>
          <p:cNvSpPr>
            <a:spLocks noGrp="1"/>
          </p:cNvSpPr>
          <p:nvPr>
            <p:ph idx="1"/>
          </p:nvPr>
        </p:nvSpPr>
        <p:spPr/>
        <p:txBody>
          <a:bodyPr/>
          <a:lstStyle/>
          <a:p>
            <a:pPr lvl="1"/>
            <a:r>
              <a:rPr lang="en-US" dirty="0">
                <a:latin typeface="Charter Roman" charset="0"/>
                <a:ea typeface="Charter Roman" charset="0"/>
                <a:cs typeface="Charter Roman" charset="0"/>
              </a:rPr>
              <a:t>GitHub repo link</a:t>
            </a:r>
          </a:p>
          <a:p>
            <a:pPr lvl="2"/>
            <a:r>
              <a:rPr lang="en-US" dirty="0">
                <a:latin typeface="Charter Roman" charset="0"/>
                <a:ea typeface="Charter Roman" charset="0"/>
                <a:cs typeface="Charter Roman" charset="0"/>
                <a:hlinkClick r:id="rId2"/>
              </a:rPr>
              <a:t>https://github.com/cyche12/GroupProject-CST8288.git</a:t>
            </a:r>
            <a:endParaRPr lang="en-US" dirty="0">
              <a:latin typeface="Charter Roman" charset="0"/>
              <a:ea typeface="Charter Roman" charset="0"/>
              <a:cs typeface="Charter Roman" charset="0"/>
            </a:endParaRPr>
          </a:p>
          <a:p>
            <a:pPr lvl="2"/>
            <a:endParaRPr lang="en-US" dirty="0">
              <a:latin typeface="Charter Roman" charset="0"/>
              <a:ea typeface="Charter Roman" charset="0"/>
              <a:cs typeface="Charter Roman" charset="0"/>
            </a:endParaRPr>
          </a:p>
          <a:p>
            <a:pPr lvl="1"/>
            <a:r>
              <a:rPr lang="en-US" dirty="0">
                <a:latin typeface="Charter Roman" charset="0"/>
                <a:ea typeface="Charter Roman" charset="0"/>
                <a:cs typeface="Charter Roman" charset="0"/>
              </a:rPr>
              <a:t>How did you use different functionalities of GitHub?</a:t>
            </a:r>
          </a:p>
          <a:p>
            <a:pPr lvl="2"/>
            <a:r>
              <a:rPr lang="en-US" dirty="0">
                <a:latin typeface="Charter Roman" charset="0"/>
                <a:ea typeface="Charter Roman" charset="0"/>
                <a:cs typeface="Charter Roman" charset="0"/>
              </a:rPr>
              <a:t>Version Control</a:t>
            </a:r>
          </a:p>
          <a:p>
            <a:pPr lvl="3"/>
            <a:r>
              <a:rPr lang="en-US" dirty="0">
                <a:latin typeface="Charter Roman" charset="0"/>
                <a:ea typeface="Charter Roman" charset="0"/>
                <a:cs typeface="Charter Roman" charset="0"/>
              </a:rPr>
              <a:t>Used branches for feature development and pull requests</a:t>
            </a:r>
          </a:p>
          <a:p>
            <a:pPr lvl="2"/>
            <a:r>
              <a:rPr lang="en-US" dirty="0">
                <a:latin typeface="Charter Roman" charset="0"/>
                <a:ea typeface="Charter Roman" charset="0"/>
                <a:cs typeface="Charter Roman" charset="0"/>
              </a:rPr>
              <a:t>Commits and Pushes</a:t>
            </a:r>
          </a:p>
          <a:p>
            <a:pPr lvl="2"/>
            <a:r>
              <a:rPr lang="en-US" dirty="0">
                <a:latin typeface="Charter Roman" charset="0"/>
                <a:ea typeface="Charter Roman" charset="0"/>
                <a:cs typeface="Charter Roman" charset="0"/>
              </a:rPr>
              <a:t>Automated Workflows</a:t>
            </a:r>
          </a:p>
          <a:p>
            <a:pPr lvl="2"/>
            <a:r>
              <a:rPr lang="en-US" dirty="0">
                <a:latin typeface="Charter Roman" charset="0"/>
                <a:ea typeface="Charter Roman" charset="0"/>
                <a:cs typeface="Charter Roman" charset="0"/>
              </a:rPr>
              <a:t>Issue Tracking</a:t>
            </a:r>
          </a:p>
          <a:p>
            <a:pPr lvl="2"/>
            <a:r>
              <a:rPr lang="en-US" dirty="0">
                <a:latin typeface="Charter Roman" charset="0"/>
                <a:ea typeface="Charter Roman" charset="0"/>
                <a:cs typeface="Charter Roman" charset="0"/>
              </a:rPr>
              <a:t>Collaborations</a:t>
            </a:r>
          </a:p>
          <a:p>
            <a:pPr lvl="2"/>
            <a:endParaRPr lang="en-US" dirty="0">
              <a:latin typeface="Charter Roman" charset="0"/>
              <a:ea typeface="Charter Roman" charset="0"/>
              <a:cs typeface="Charter Roman" charset="0"/>
            </a:endParaRPr>
          </a:p>
          <a:p>
            <a:pPr lvl="1"/>
            <a:r>
              <a:rPr lang="en-US" dirty="0">
                <a:latin typeface="Charter Roman" charset="0"/>
                <a:ea typeface="Charter Roman" charset="0"/>
                <a:cs typeface="Charter Roman" charset="0"/>
              </a:rPr>
              <a:t>What was the Branching strategy?</a:t>
            </a:r>
          </a:p>
          <a:p>
            <a:pPr lvl="2"/>
            <a:r>
              <a:rPr lang="en-US" dirty="0">
                <a:latin typeface="Charter Roman" charset="0"/>
                <a:ea typeface="Charter Roman" charset="0"/>
                <a:cs typeface="Charter Roman" charset="0"/>
              </a:rPr>
              <a:t>Jake, our group leader, created the project repository</a:t>
            </a:r>
          </a:p>
          <a:p>
            <a:pPr lvl="2"/>
            <a:r>
              <a:rPr lang="en-US" dirty="0">
                <a:latin typeface="Charter Roman" charset="0"/>
                <a:ea typeface="Charter Roman" charset="0"/>
                <a:cs typeface="Charter Roman" charset="0"/>
              </a:rPr>
              <a:t>We worked on individual branches and merged changes into the master branch</a:t>
            </a:r>
          </a:p>
        </p:txBody>
      </p:sp>
    </p:spTree>
    <p:extLst>
      <p:ext uri="{BB962C8B-B14F-4D97-AF65-F5344CB8AC3E}">
        <p14:creationId xmlns:p14="http://schemas.microsoft.com/office/powerpoint/2010/main" val="1720760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rter Roman" charset="0"/>
                <a:ea typeface="Charter Roman" charset="0"/>
                <a:cs typeface="Charter Roman" charset="0"/>
              </a:rPr>
              <a:t>Challenges</a:t>
            </a:r>
          </a:p>
        </p:txBody>
      </p:sp>
      <p:sp>
        <p:nvSpPr>
          <p:cNvPr id="3" name="Content Placeholder 2"/>
          <p:cNvSpPr>
            <a:spLocks noGrp="1"/>
          </p:cNvSpPr>
          <p:nvPr>
            <p:ph idx="1"/>
          </p:nvPr>
        </p:nvSpPr>
        <p:spPr/>
        <p:txBody>
          <a:bodyPr/>
          <a:lstStyle/>
          <a:p>
            <a:pPr lvl="1"/>
            <a:r>
              <a:rPr lang="en-US" dirty="0">
                <a:latin typeface="Charter Roman" charset="0"/>
                <a:ea typeface="Charter Roman" charset="0"/>
                <a:cs typeface="Charter Roman" charset="0"/>
              </a:rPr>
              <a:t>Coding Issues</a:t>
            </a:r>
          </a:p>
          <a:p>
            <a:pPr lvl="1"/>
            <a:r>
              <a:rPr lang="en-US" dirty="0">
                <a:latin typeface="Charter Roman" charset="0"/>
                <a:ea typeface="Charter Roman" charset="0"/>
                <a:cs typeface="Charter Roman" charset="0"/>
              </a:rPr>
              <a:t>Encountered integration issues with </a:t>
            </a:r>
            <a:r>
              <a:rPr lang="en-US" dirty="0" err="1">
                <a:latin typeface="Charter Roman" charset="0"/>
                <a:ea typeface="Charter Roman" charset="0"/>
                <a:cs typeface="Charter Roman" charset="0"/>
              </a:rPr>
              <a:t>Netbeans</a:t>
            </a:r>
            <a:r>
              <a:rPr lang="en-US" dirty="0">
                <a:latin typeface="Charter Roman" charset="0"/>
                <a:ea typeface="Charter Roman" charset="0"/>
                <a:cs typeface="Charter Roman" charset="0"/>
              </a:rPr>
              <a:t> and Java Versions</a:t>
            </a:r>
          </a:p>
          <a:p>
            <a:pPr lvl="2"/>
            <a:r>
              <a:rPr lang="en-US" dirty="0">
                <a:latin typeface="Charter Roman" charset="0"/>
                <a:ea typeface="Charter Roman" charset="0"/>
                <a:cs typeface="Charter Roman" charset="0"/>
              </a:rPr>
              <a:t>Faced difficulties with dependency management in the project</a:t>
            </a:r>
          </a:p>
          <a:p>
            <a:pPr lvl="3"/>
            <a:r>
              <a:rPr lang="en-US" dirty="0">
                <a:latin typeface="Charter Roman" charset="0"/>
                <a:ea typeface="Charter Roman" charset="0"/>
                <a:cs typeface="Charter Roman" charset="0"/>
              </a:rPr>
              <a:t>Compatibility issues</a:t>
            </a:r>
          </a:p>
          <a:p>
            <a:pPr lvl="3"/>
            <a:r>
              <a:rPr lang="en-US" dirty="0">
                <a:latin typeface="Charter Roman" charset="0"/>
                <a:ea typeface="Charter Roman" charset="0"/>
                <a:cs typeface="Charter Roman" charset="0"/>
              </a:rPr>
              <a:t>Outdated dependencies</a:t>
            </a:r>
          </a:p>
          <a:p>
            <a:pPr lvl="3"/>
            <a:r>
              <a:rPr lang="en-US" dirty="0">
                <a:latin typeface="Charter Roman" charset="0"/>
                <a:ea typeface="Charter Roman" charset="0"/>
                <a:cs typeface="Charter Roman" charset="0"/>
              </a:rPr>
              <a:t>Conflicting versions</a:t>
            </a:r>
          </a:p>
          <a:p>
            <a:pPr lvl="3"/>
            <a:endParaRPr lang="en-US" dirty="0">
              <a:latin typeface="Charter Roman" charset="0"/>
              <a:ea typeface="Charter Roman" charset="0"/>
              <a:cs typeface="Charter Roman" charset="0"/>
            </a:endParaRPr>
          </a:p>
          <a:p>
            <a:pPr lvl="1"/>
            <a:r>
              <a:rPr lang="en-US" dirty="0">
                <a:latin typeface="Charter Roman" charset="0"/>
                <a:ea typeface="Charter Roman" charset="0"/>
                <a:cs typeface="Charter Roman" charset="0"/>
              </a:rPr>
              <a:t>How did you overcome?</a:t>
            </a:r>
          </a:p>
          <a:p>
            <a:pPr lvl="2"/>
            <a:r>
              <a:rPr lang="en-US" b="1" dirty="0">
                <a:latin typeface="Charter Roman" charset="0"/>
                <a:ea typeface="Charter Roman" charset="0"/>
                <a:cs typeface="Charter Roman" charset="0"/>
              </a:rPr>
              <a:t>Effective Communication</a:t>
            </a:r>
            <a:r>
              <a:rPr lang="en-US" dirty="0">
                <a:latin typeface="Charter Roman" charset="0"/>
                <a:ea typeface="Charter Roman" charset="0"/>
                <a:cs typeface="Charter Roman" charset="0"/>
              </a:rPr>
              <a:t>: Managed merge conflicts through regular team meetings and communication.</a:t>
            </a:r>
          </a:p>
          <a:p>
            <a:pPr lvl="2"/>
            <a:r>
              <a:rPr lang="en-US" b="1" dirty="0">
                <a:latin typeface="Charter Roman" charset="0"/>
                <a:ea typeface="Charter Roman" charset="0"/>
                <a:cs typeface="Charter Roman" charset="0"/>
              </a:rPr>
              <a:t>Switched to Eclipse: </a:t>
            </a:r>
            <a:r>
              <a:rPr lang="en-US" dirty="0">
                <a:latin typeface="Charter Roman" charset="0"/>
                <a:ea typeface="Charter Roman" charset="0"/>
                <a:cs typeface="Charter Roman" charset="0"/>
              </a:rPr>
              <a:t>This ensured a smoother integration and better support for our group project.</a:t>
            </a:r>
          </a:p>
          <a:p>
            <a:pPr lvl="2"/>
            <a:r>
              <a:rPr lang="en-US" b="1" dirty="0">
                <a:latin typeface="Charter Roman" charset="0"/>
                <a:ea typeface="Charter Roman" charset="0"/>
                <a:cs typeface="Charter Roman" charset="0"/>
              </a:rPr>
              <a:t>Created Dedicated Test Branches: </a:t>
            </a:r>
            <a:r>
              <a:rPr lang="en-US" dirty="0">
                <a:latin typeface="Charter Roman" charset="0"/>
                <a:ea typeface="Charter Roman" charset="0"/>
                <a:cs typeface="Charter Roman" charset="0"/>
              </a:rPr>
              <a:t>This required we set up separate branches for testing new features and changes before merging them into the main branch.</a:t>
            </a:r>
          </a:p>
        </p:txBody>
      </p:sp>
    </p:spTree>
    <p:extLst>
      <p:ext uri="{BB962C8B-B14F-4D97-AF65-F5344CB8AC3E}">
        <p14:creationId xmlns:p14="http://schemas.microsoft.com/office/powerpoint/2010/main" val="149933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rter Roman" charset="0"/>
                <a:ea typeface="Charter Roman" charset="0"/>
                <a:cs typeface="Charter Roman" charset="0"/>
              </a:rPr>
              <a:t>Challenges</a:t>
            </a:r>
          </a:p>
        </p:txBody>
      </p:sp>
      <p:sp>
        <p:nvSpPr>
          <p:cNvPr id="3" name="Content Placeholder 2"/>
          <p:cNvSpPr>
            <a:spLocks noGrp="1"/>
          </p:cNvSpPr>
          <p:nvPr>
            <p:ph idx="1"/>
          </p:nvPr>
        </p:nvSpPr>
        <p:spPr/>
        <p:txBody>
          <a:bodyPr/>
          <a:lstStyle/>
          <a:p>
            <a:pPr lvl="1"/>
            <a:r>
              <a:rPr lang="en-US" dirty="0">
                <a:latin typeface="Charter Roman" charset="0"/>
                <a:ea typeface="Charter Roman" charset="0"/>
                <a:cs typeface="Charter Roman" charset="0"/>
              </a:rPr>
              <a:t>Encountered integration issues with </a:t>
            </a:r>
            <a:r>
              <a:rPr lang="en-US" dirty="0" err="1">
                <a:latin typeface="Charter Roman" charset="0"/>
                <a:ea typeface="Charter Roman" charset="0"/>
                <a:cs typeface="Charter Roman" charset="0"/>
              </a:rPr>
              <a:t>Github</a:t>
            </a:r>
            <a:endParaRPr lang="en-US" dirty="0">
              <a:latin typeface="Charter Roman" charset="0"/>
              <a:ea typeface="Charter Roman" charset="0"/>
              <a:cs typeface="Charter Roman" charset="0"/>
            </a:endParaRPr>
          </a:p>
          <a:p>
            <a:pPr lvl="2"/>
            <a:r>
              <a:rPr lang="en-US" dirty="0">
                <a:latin typeface="Charter Roman" charset="0"/>
                <a:ea typeface="Charter Roman" charset="0"/>
                <a:cs typeface="Charter Roman" charset="0"/>
              </a:rPr>
              <a:t>Faced difficulties with dependency management in the project</a:t>
            </a:r>
          </a:p>
          <a:p>
            <a:pPr lvl="3"/>
            <a:r>
              <a:rPr lang="en-US" dirty="0">
                <a:latin typeface="Charter Roman" charset="0"/>
                <a:ea typeface="Charter Roman" charset="0"/>
                <a:cs typeface="Charter Roman" charset="0"/>
              </a:rPr>
              <a:t>Compatibility issues</a:t>
            </a:r>
          </a:p>
          <a:p>
            <a:pPr lvl="3"/>
            <a:r>
              <a:rPr lang="en-US" dirty="0">
                <a:latin typeface="Charter Roman" charset="0"/>
                <a:ea typeface="Charter Roman" charset="0"/>
                <a:cs typeface="Charter Roman" charset="0"/>
              </a:rPr>
              <a:t>Application Integration</a:t>
            </a:r>
          </a:p>
          <a:p>
            <a:pPr lvl="1"/>
            <a:r>
              <a:rPr lang="en-US" dirty="0">
                <a:latin typeface="Charter Roman" charset="0"/>
                <a:ea typeface="Charter Roman" charset="0"/>
                <a:cs typeface="Charter Roman" charset="0"/>
              </a:rPr>
              <a:t>How did you overcome?</a:t>
            </a:r>
          </a:p>
          <a:p>
            <a:pPr lvl="2"/>
            <a:r>
              <a:rPr lang="en-US" b="1" dirty="0">
                <a:latin typeface="Charter Roman" charset="0"/>
                <a:ea typeface="Charter Roman" charset="0"/>
                <a:cs typeface="Charter Roman" charset="0"/>
              </a:rPr>
              <a:t>Effective Communication</a:t>
            </a:r>
            <a:r>
              <a:rPr lang="en-US" dirty="0">
                <a:latin typeface="Charter Roman" charset="0"/>
                <a:ea typeface="Charter Roman" charset="0"/>
                <a:cs typeface="Charter Roman" charset="0"/>
              </a:rPr>
              <a:t>: Managed merge conflicts through regular team meetings and communication.</a:t>
            </a:r>
          </a:p>
          <a:p>
            <a:pPr lvl="2"/>
            <a:r>
              <a:rPr lang="en-US" b="1" dirty="0">
                <a:latin typeface="Charter Roman" charset="0"/>
                <a:ea typeface="Charter Roman" charset="0"/>
                <a:cs typeface="Charter Roman" charset="0"/>
              </a:rPr>
              <a:t>Switched to </a:t>
            </a:r>
            <a:r>
              <a:rPr lang="en-US" b="1" dirty="0" err="1">
                <a:latin typeface="Charter Roman" charset="0"/>
                <a:ea typeface="Charter Roman" charset="0"/>
                <a:cs typeface="Charter Roman" charset="0"/>
              </a:rPr>
              <a:t>Github</a:t>
            </a:r>
            <a:r>
              <a:rPr lang="en-US" b="1" dirty="0">
                <a:latin typeface="Charter Roman" charset="0"/>
                <a:ea typeface="Charter Roman" charset="0"/>
                <a:cs typeface="Charter Roman" charset="0"/>
              </a:rPr>
              <a:t> Desktop:  </a:t>
            </a:r>
            <a:r>
              <a:rPr lang="en-US" dirty="0">
                <a:latin typeface="Charter Roman" charset="0"/>
                <a:ea typeface="Charter Roman" charset="0"/>
                <a:cs typeface="Charter Roman" charset="0"/>
              </a:rPr>
              <a:t>To ensure repositories could still be pushed, committed and pulled together</a:t>
            </a:r>
          </a:p>
          <a:p>
            <a:pPr lvl="2"/>
            <a:r>
              <a:rPr lang="en-US" b="1" dirty="0">
                <a:latin typeface="Charter Roman" charset="0"/>
                <a:ea typeface="Charter Roman" charset="0"/>
                <a:cs typeface="Charter Roman" charset="0"/>
              </a:rPr>
              <a:t>Created Additional Repositories:</a:t>
            </a:r>
            <a:r>
              <a:rPr lang="en-US" dirty="0">
                <a:latin typeface="Charter Roman" charset="0"/>
                <a:ea typeface="Charter Roman" charset="0"/>
                <a:cs typeface="Charter Roman" charset="0"/>
              </a:rPr>
              <a:t> Due to the authentication issues that Eclipse faced when attempting to login to </a:t>
            </a:r>
            <a:r>
              <a:rPr lang="en-US" dirty="0" err="1">
                <a:latin typeface="Charter Roman" charset="0"/>
                <a:ea typeface="Charter Roman" charset="0"/>
                <a:cs typeface="Charter Roman" charset="0"/>
              </a:rPr>
              <a:t>Github</a:t>
            </a:r>
            <a:r>
              <a:rPr lang="en-US" dirty="0">
                <a:latin typeface="Charter Roman" charset="0"/>
                <a:ea typeface="Charter Roman" charset="0"/>
                <a:cs typeface="Charter Roman" charset="0"/>
              </a:rPr>
              <a:t>, direct uploads to new repositories and branches were required from the </a:t>
            </a:r>
            <a:r>
              <a:rPr lang="en-US" dirty="0" err="1">
                <a:latin typeface="Charter Roman" charset="0"/>
                <a:ea typeface="Charter Roman" charset="0"/>
                <a:cs typeface="Charter Roman" charset="0"/>
              </a:rPr>
              <a:t>github</a:t>
            </a:r>
            <a:r>
              <a:rPr lang="en-US" dirty="0">
                <a:latin typeface="Charter Roman" charset="0"/>
                <a:ea typeface="Charter Roman" charset="0"/>
                <a:cs typeface="Charter Roman" charset="0"/>
              </a:rPr>
              <a:t> website and desktop application.</a:t>
            </a:r>
            <a:endParaRPr lang="en-US" b="1" dirty="0">
              <a:latin typeface="Charter Roman" charset="0"/>
              <a:ea typeface="Charter Roman" charset="0"/>
              <a:cs typeface="Charter Roman" charset="0"/>
            </a:endParaRPr>
          </a:p>
        </p:txBody>
      </p:sp>
    </p:spTree>
    <p:extLst>
      <p:ext uri="{BB962C8B-B14F-4D97-AF65-F5344CB8AC3E}">
        <p14:creationId xmlns:p14="http://schemas.microsoft.com/office/powerpoint/2010/main" val="2693113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rter Roman" charset="0"/>
                <a:ea typeface="Charter Roman" charset="0"/>
                <a:cs typeface="Charter Roman" charset="0"/>
              </a:rPr>
              <a:t>Demo</a:t>
            </a:r>
          </a:p>
        </p:txBody>
      </p:sp>
      <p:sp>
        <p:nvSpPr>
          <p:cNvPr id="3" name="Content Placeholder 2"/>
          <p:cNvSpPr>
            <a:spLocks noGrp="1"/>
          </p:cNvSpPr>
          <p:nvPr>
            <p:ph idx="1"/>
          </p:nvPr>
        </p:nvSpPr>
        <p:spPr/>
        <p:txBody>
          <a:bodyPr/>
          <a:lstStyle/>
          <a:p>
            <a:pPr lvl="1"/>
            <a:r>
              <a:rPr lang="en-US" dirty="0">
                <a:latin typeface="Charter Roman" charset="0"/>
                <a:ea typeface="Charter Roman" charset="0"/>
                <a:cs typeface="Charter Roman" charset="0"/>
              </a:rPr>
              <a:t>Required Functionalities: Registration, Login, Consumer Experience, Charity Experience, Retail Experience, Food Inventory, Food Checkout</a:t>
            </a:r>
          </a:p>
          <a:p>
            <a:pPr lvl="1"/>
            <a:r>
              <a:rPr lang="en-US" dirty="0">
                <a:latin typeface="Charter Roman" charset="0"/>
                <a:ea typeface="Charter Roman" charset="0"/>
                <a:cs typeface="Charter Roman" charset="0"/>
              </a:rPr>
              <a:t>Bonus Functionalities </a:t>
            </a:r>
          </a:p>
          <a:p>
            <a:pPr marL="201168" lvl="1" indent="0">
              <a:buNone/>
            </a:pPr>
            <a:endParaRPr lang="en-US" dirty="0">
              <a:latin typeface="Charter Roman" charset="0"/>
              <a:ea typeface="Charter Roman" charset="0"/>
              <a:cs typeface="Charter Roman" charset="0"/>
            </a:endParaRPr>
          </a:p>
          <a:p>
            <a:pPr lvl="1"/>
            <a:r>
              <a:rPr lang="en-US" dirty="0">
                <a:latin typeface="Charter Roman" charset="0"/>
                <a:ea typeface="Charter Roman" charset="0"/>
                <a:cs typeface="Charter Roman" charset="0"/>
              </a:rPr>
              <a:t>What you could not achieve? The exact image we wanted to design in our collective discussion was not met due to time limitations. The webpages could look much better and be clearer in their purpose by adding simple instructions and labels among the pages. The Food Checkout page was incomplete at this time, but in the future the Consumers will be able to receive their food that is listed </a:t>
            </a:r>
            <a:r>
              <a:rPr lang="en-US">
                <a:latin typeface="Charter Roman" charset="0"/>
                <a:ea typeface="Charter Roman" charset="0"/>
                <a:cs typeface="Charter Roman" charset="0"/>
              </a:rPr>
              <a:t>on the site.</a:t>
            </a:r>
            <a:endParaRPr lang="en-US" dirty="0">
              <a:latin typeface="Charter Roman" charset="0"/>
              <a:ea typeface="Charter Roman" charset="0"/>
              <a:cs typeface="Charter Roman" charset="0"/>
            </a:endParaRPr>
          </a:p>
        </p:txBody>
      </p:sp>
    </p:spTree>
    <p:extLst>
      <p:ext uri="{BB962C8B-B14F-4D97-AF65-F5344CB8AC3E}">
        <p14:creationId xmlns:p14="http://schemas.microsoft.com/office/powerpoint/2010/main" val="2027274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harter Roman" charset="0"/>
                <a:ea typeface="Charter Roman" charset="0"/>
                <a:cs typeface="Charter Roman" charset="0"/>
              </a:rPr>
              <a:t>Future Enhancement</a:t>
            </a:r>
          </a:p>
        </p:txBody>
      </p:sp>
      <p:sp>
        <p:nvSpPr>
          <p:cNvPr id="3" name="Content Placeholder 2"/>
          <p:cNvSpPr>
            <a:spLocks noGrp="1"/>
          </p:cNvSpPr>
          <p:nvPr>
            <p:ph idx="1"/>
          </p:nvPr>
        </p:nvSpPr>
        <p:spPr/>
        <p:txBody>
          <a:bodyPr>
            <a:normAutofit fontScale="92500" lnSpcReduction="20000"/>
          </a:bodyPr>
          <a:lstStyle/>
          <a:p>
            <a:r>
              <a:rPr lang="en-US" dirty="0">
                <a:latin typeface="Charter Roman" charset="0"/>
                <a:ea typeface="Charter Roman" charset="0"/>
                <a:cs typeface="Charter Roman" charset="0"/>
              </a:rPr>
              <a:t>What is your plan for the future enhancements of the project?</a:t>
            </a:r>
          </a:p>
          <a:p>
            <a:endParaRPr lang="en-US" dirty="0">
              <a:latin typeface="Charter Roman" charset="0"/>
              <a:ea typeface="Charter Roman" charset="0"/>
              <a:cs typeface="Charter Roman" charset="0"/>
            </a:endParaRPr>
          </a:p>
          <a:p>
            <a:pPr lvl="1"/>
            <a:r>
              <a:rPr lang="en-US" dirty="0">
                <a:latin typeface="Charter Roman" charset="0"/>
                <a:ea typeface="Charter Roman" charset="0"/>
                <a:cs typeface="Charter Roman" charset="0"/>
              </a:rPr>
              <a:t>User Interface Improvements</a:t>
            </a:r>
          </a:p>
          <a:p>
            <a:pPr lvl="2"/>
            <a:r>
              <a:rPr lang="en-US" dirty="0">
                <a:latin typeface="Charter Roman" charset="0"/>
                <a:ea typeface="Charter Roman" charset="0"/>
                <a:cs typeface="Charter Roman" charset="0"/>
              </a:rPr>
              <a:t>Redesign the interface to be more intuitive and user-friendly based on user feedback</a:t>
            </a:r>
          </a:p>
          <a:p>
            <a:pPr lvl="2"/>
            <a:endParaRPr lang="en-US" dirty="0">
              <a:latin typeface="Charter Roman" charset="0"/>
              <a:ea typeface="Charter Roman" charset="0"/>
              <a:cs typeface="Charter Roman" charset="0"/>
            </a:endParaRPr>
          </a:p>
          <a:p>
            <a:pPr marL="384048" marR="0" lvl="1" indent="-182880" algn="l" defTabSz="914400" rtl="0" eaLnBrk="1" fontAlgn="auto" latinLnBrk="0" hangingPunct="1">
              <a:lnSpc>
                <a:spcPct val="90000"/>
              </a:lnSpc>
              <a:spcBef>
                <a:spcPts val="200"/>
              </a:spcBef>
              <a:spcAft>
                <a:spcPts val="400"/>
              </a:spcAft>
              <a:buClr>
                <a:srgbClr val="E48312"/>
              </a:buClr>
              <a:buSzTx/>
              <a:buFont typeface="Calibri" pitchFamily="34" charset="0"/>
              <a:buChar char="◦"/>
              <a:tabLst/>
              <a:defRPr/>
            </a:pPr>
            <a:r>
              <a:rPr lang="en-US" dirty="0">
                <a:solidFill>
                  <a:srgbClr val="000000">
                    <a:lumMod val="75000"/>
                    <a:lumOff val="25000"/>
                  </a:srgbClr>
                </a:solidFill>
                <a:latin typeface="Charter Roman" charset="0"/>
                <a:ea typeface="Charter Roman" charset="0"/>
                <a:cs typeface="Charter Roman" charset="0"/>
              </a:rPr>
              <a:t>Mobile App Development</a:t>
            </a:r>
          </a:p>
          <a:p>
            <a:pPr lvl="2">
              <a:buClr>
                <a:srgbClr val="E48312"/>
              </a:buClr>
              <a:defRPr/>
            </a:pPr>
            <a:r>
              <a:rPr lang="en-US" dirty="0">
                <a:solidFill>
                  <a:srgbClr val="000000">
                    <a:lumMod val="75000"/>
                    <a:lumOff val="25000"/>
                  </a:srgbClr>
                </a:solidFill>
                <a:latin typeface="Charter Roman" charset="0"/>
                <a:ea typeface="Charter Roman" charset="0"/>
                <a:cs typeface="Charter Roman" charset="0"/>
              </a:rPr>
              <a:t>Develop a mobile application using cross-platform frameworks like Flutter to reach a wider audience</a:t>
            </a:r>
            <a:r>
              <a:rPr lang="en-US" dirty="0">
                <a:latin typeface="Charter Roman" charset="0"/>
                <a:ea typeface="Charter Roman" charset="0"/>
                <a:cs typeface="Charter Roman" charset="0"/>
              </a:rPr>
              <a:t> </a:t>
            </a:r>
          </a:p>
          <a:p>
            <a:pPr lvl="2">
              <a:buClr>
                <a:srgbClr val="E48312"/>
              </a:buClr>
              <a:defRPr/>
            </a:pPr>
            <a:endParaRPr lang="en-US" dirty="0">
              <a:latin typeface="Charter Roman" charset="0"/>
              <a:ea typeface="Charter Roman" charset="0"/>
              <a:cs typeface="Charter Roman" charset="0"/>
            </a:endParaRPr>
          </a:p>
          <a:p>
            <a:pPr marL="384048" marR="0" lvl="1" indent="-182880" algn="l" defTabSz="914400" rtl="0" eaLnBrk="1" fontAlgn="auto" latinLnBrk="0" hangingPunct="1">
              <a:lnSpc>
                <a:spcPct val="90000"/>
              </a:lnSpc>
              <a:spcBef>
                <a:spcPts val="200"/>
              </a:spcBef>
              <a:spcAft>
                <a:spcPts val="400"/>
              </a:spcAft>
              <a:buClr>
                <a:srgbClr val="E48312"/>
              </a:buClr>
              <a:buSzTx/>
              <a:buFont typeface="Calibri" pitchFamily="34" charset="0"/>
              <a:buChar char="◦"/>
              <a:tabLst/>
              <a:defRPr/>
            </a:pPr>
            <a:r>
              <a:rPr lang="en-US" dirty="0">
                <a:solidFill>
                  <a:srgbClr val="000000">
                    <a:lumMod val="75000"/>
                    <a:lumOff val="25000"/>
                  </a:srgbClr>
                </a:solidFill>
                <a:latin typeface="Charter Roman" charset="0"/>
                <a:ea typeface="Charter Roman" charset="0"/>
                <a:cs typeface="Charter Roman" charset="0"/>
              </a:rPr>
              <a:t>Advanced Inventory Management</a:t>
            </a:r>
          </a:p>
          <a:p>
            <a:pPr lvl="2">
              <a:buClr>
                <a:srgbClr val="E48312"/>
              </a:buClr>
              <a:defRPr/>
            </a:pPr>
            <a:r>
              <a:rPr kumimoji="0" lang="en-US" b="0" i="0" u="none" strike="noStrike" kern="1200" cap="none" spc="0" normalizeH="0" baseline="0" noProof="0" dirty="0">
                <a:ln>
                  <a:noFill/>
                </a:ln>
                <a:solidFill>
                  <a:srgbClr val="000000">
                    <a:lumMod val="75000"/>
                    <a:lumOff val="25000"/>
                  </a:srgbClr>
                </a:solidFill>
                <a:effectLst/>
                <a:uLnTx/>
                <a:uFillTx/>
                <a:latin typeface="Charter Roman" charset="0"/>
                <a:ea typeface="Charter Roman" charset="0"/>
                <a:cs typeface="Charter Roman" charset="0"/>
              </a:rPr>
              <a:t>Integrate AI algorithms to predict surplus food </a:t>
            </a:r>
            <a:r>
              <a:rPr kumimoji="0" lang="en-US" b="0" i="0" u="none" strike="noStrike" kern="1200" cap="none" spc="0" normalizeH="0" baseline="0" noProof="0" dirty="0" err="1">
                <a:ln>
                  <a:noFill/>
                </a:ln>
                <a:solidFill>
                  <a:srgbClr val="000000">
                    <a:lumMod val="75000"/>
                    <a:lumOff val="25000"/>
                  </a:srgbClr>
                </a:solidFill>
                <a:effectLst/>
                <a:uLnTx/>
                <a:uFillTx/>
                <a:latin typeface="Charter Roman" charset="0"/>
                <a:ea typeface="Charter Roman" charset="0"/>
                <a:cs typeface="Charter Roman" charset="0"/>
              </a:rPr>
              <a:t>i</a:t>
            </a:r>
            <a:r>
              <a:rPr lang="en-US" dirty="0" err="1">
                <a:solidFill>
                  <a:srgbClr val="000000">
                    <a:lumMod val="75000"/>
                    <a:lumOff val="25000"/>
                  </a:srgbClr>
                </a:solidFill>
                <a:latin typeface="Charter Roman" charset="0"/>
                <a:ea typeface="Charter Roman" charset="0"/>
                <a:cs typeface="Charter Roman" charset="0"/>
              </a:rPr>
              <a:t>tems</a:t>
            </a:r>
            <a:r>
              <a:rPr lang="en-US" dirty="0">
                <a:solidFill>
                  <a:srgbClr val="000000">
                    <a:lumMod val="75000"/>
                    <a:lumOff val="25000"/>
                  </a:srgbClr>
                </a:solidFill>
                <a:latin typeface="Charter Roman" charset="0"/>
                <a:ea typeface="Charter Roman" charset="0"/>
                <a:cs typeface="Charter Roman" charset="0"/>
              </a:rPr>
              <a:t> and optimize inventory levels</a:t>
            </a:r>
          </a:p>
          <a:p>
            <a:pPr lvl="2">
              <a:buClr>
                <a:srgbClr val="E48312"/>
              </a:buClr>
              <a:defRPr/>
            </a:pPr>
            <a:endParaRPr lang="en-US" dirty="0">
              <a:solidFill>
                <a:srgbClr val="000000">
                  <a:lumMod val="75000"/>
                  <a:lumOff val="25000"/>
                </a:srgbClr>
              </a:solidFill>
              <a:latin typeface="Charter Roman" charset="0"/>
              <a:ea typeface="Charter Roman" charset="0"/>
              <a:cs typeface="Charter Roman" charset="0"/>
            </a:endParaRPr>
          </a:p>
          <a:p>
            <a:pPr marL="384048" marR="0" lvl="1" indent="-182880" algn="l" defTabSz="914400" rtl="0" eaLnBrk="1" fontAlgn="auto" latinLnBrk="0" hangingPunct="1">
              <a:lnSpc>
                <a:spcPct val="90000"/>
              </a:lnSpc>
              <a:spcBef>
                <a:spcPts val="200"/>
              </a:spcBef>
              <a:spcAft>
                <a:spcPts val="400"/>
              </a:spcAft>
              <a:buClr>
                <a:srgbClr val="E48312"/>
              </a:buClr>
              <a:buSzTx/>
              <a:buFont typeface="Calibri" pitchFamily="34" charset="0"/>
              <a:buChar char="◦"/>
              <a:tabLst/>
              <a:defRPr/>
            </a:pPr>
            <a:r>
              <a:rPr lang="en-US" dirty="0">
                <a:solidFill>
                  <a:srgbClr val="000000">
                    <a:lumMod val="75000"/>
                    <a:lumOff val="25000"/>
                  </a:srgbClr>
                </a:solidFill>
                <a:latin typeface="Charter Roman" charset="0"/>
                <a:ea typeface="Charter Roman" charset="0"/>
                <a:cs typeface="Charter Roman" charset="0"/>
              </a:rPr>
              <a:t>Real-Time Alerts</a:t>
            </a:r>
          </a:p>
          <a:p>
            <a:pPr lvl="2">
              <a:buClr>
                <a:srgbClr val="E48312"/>
              </a:buClr>
              <a:defRPr/>
            </a:pPr>
            <a:r>
              <a:rPr kumimoji="0" lang="en-US" b="0" i="0" u="none" strike="noStrike" kern="1200" cap="none" spc="0" normalizeH="0" baseline="0" noProof="0" dirty="0">
                <a:ln>
                  <a:noFill/>
                </a:ln>
                <a:solidFill>
                  <a:srgbClr val="000000">
                    <a:lumMod val="75000"/>
                    <a:lumOff val="25000"/>
                  </a:srgbClr>
                </a:solidFill>
                <a:effectLst/>
                <a:uLnTx/>
                <a:uFillTx/>
                <a:latin typeface="Charter Roman" charset="0"/>
                <a:ea typeface="Charter Roman" charset="0"/>
                <a:cs typeface="Charter Roman" charset="0"/>
              </a:rPr>
              <a:t>Implement push notifications and S</a:t>
            </a:r>
            <a:r>
              <a:rPr lang="en-US" dirty="0">
                <a:solidFill>
                  <a:srgbClr val="000000">
                    <a:lumMod val="75000"/>
                    <a:lumOff val="25000"/>
                  </a:srgbClr>
                </a:solidFill>
                <a:latin typeface="Charter Roman" charset="0"/>
                <a:ea typeface="Charter Roman" charset="0"/>
                <a:cs typeface="Charter Roman" charset="0"/>
              </a:rPr>
              <a:t>MS alerts for real-time updates on surplus food items</a:t>
            </a:r>
          </a:p>
          <a:p>
            <a:pPr lvl="2">
              <a:buClr>
                <a:srgbClr val="E48312"/>
              </a:buClr>
              <a:defRPr/>
            </a:pPr>
            <a:endParaRPr lang="en-US" dirty="0">
              <a:solidFill>
                <a:srgbClr val="000000">
                  <a:lumMod val="75000"/>
                  <a:lumOff val="25000"/>
                </a:srgbClr>
              </a:solidFill>
              <a:latin typeface="Charter Roman" charset="0"/>
              <a:ea typeface="Charter Roman" charset="0"/>
              <a:cs typeface="Charter Roman" charset="0"/>
            </a:endParaRPr>
          </a:p>
          <a:p>
            <a:pPr marL="384048" marR="0" lvl="1" indent="-182880" algn="l" defTabSz="914400" rtl="0" eaLnBrk="1" fontAlgn="auto" latinLnBrk="0" hangingPunct="1">
              <a:lnSpc>
                <a:spcPct val="90000"/>
              </a:lnSpc>
              <a:spcBef>
                <a:spcPts val="200"/>
              </a:spcBef>
              <a:spcAft>
                <a:spcPts val="400"/>
              </a:spcAft>
              <a:buClr>
                <a:srgbClr val="E48312"/>
              </a:buClr>
              <a:buSzTx/>
              <a:buFont typeface="Calibri" pitchFamily="34" charset="0"/>
              <a:buChar char="◦"/>
              <a:tabLst/>
              <a:defRPr/>
            </a:pPr>
            <a:r>
              <a:rPr lang="en-US" dirty="0">
                <a:solidFill>
                  <a:srgbClr val="000000">
                    <a:lumMod val="75000"/>
                    <a:lumOff val="25000"/>
                  </a:srgbClr>
                </a:solidFill>
                <a:latin typeface="Charter Roman" charset="0"/>
                <a:ea typeface="Charter Roman" charset="0"/>
                <a:cs typeface="Charter Roman" charset="0"/>
              </a:rPr>
              <a:t>Security Enhancements</a:t>
            </a:r>
          </a:p>
          <a:p>
            <a:pPr lvl="2">
              <a:buClr>
                <a:srgbClr val="E48312"/>
              </a:buClr>
              <a:defRPr/>
            </a:pPr>
            <a:r>
              <a:rPr kumimoji="0" lang="en-US" b="0" i="0" u="none" strike="noStrike" kern="1200" cap="none" spc="0" normalizeH="0" baseline="0" noProof="0" dirty="0">
                <a:ln>
                  <a:noFill/>
                </a:ln>
                <a:solidFill>
                  <a:srgbClr val="000000">
                    <a:lumMod val="75000"/>
                    <a:lumOff val="25000"/>
                  </a:srgbClr>
                </a:solidFill>
                <a:effectLst/>
                <a:uLnTx/>
                <a:uFillTx/>
                <a:latin typeface="Charter Roman" charset="0"/>
                <a:ea typeface="Charter Roman" charset="0"/>
                <a:cs typeface="Charter Roman" charset="0"/>
              </a:rPr>
              <a:t>Introduce adv</a:t>
            </a:r>
            <a:r>
              <a:rPr lang="en-US" dirty="0" err="1">
                <a:solidFill>
                  <a:srgbClr val="000000">
                    <a:lumMod val="75000"/>
                    <a:lumOff val="25000"/>
                  </a:srgbClr>
                </a:solidFill>
                <a:latin typeface="Charter Roman" charset="0"/>
                <a:ea typeface="Charter Roman" charset="0"/>
                <a:cs typeface="Charter Roman" charset="0"/>
              </a:rPr>
              <a:t>anced</a:t>
            </a:r>
            <a:r>
              <a:rPr lang="en-US" dirty="0">
                <a:solidFill>
                  <a:srgbClr val="000000">
                    <a:lumMod val="75000"/>
                    <a:lumOff val="25000"/>
                  </a:srgbClr>
                </a:solidFill>
                <a:latin typeface="Charter Roman" charset="0"/>
                <a:ea typeface="Charter Roman" charset="0"/>
                <a:cs typeface="Charter Roman" charset="0"/>
              </a:rPr>
              <a:t> encryption and authentication methods to protect user data.</a:t>
            </a:r>
            <a:endParaRPr kumimoji="0" lang="en-US" b="0" i="0" u="none" strike="noStrike" kern="1200" cap="none" spc="0" normalizeH="0" baseline="0" noProof="0" dirty="0">
              <a:ln>
                <a:noFill/>
              </a:ln>
              <a:solidFill>
                <a:srgbClr val="000000">
                  <a:lumMod val="75000"/>
                  <a:lumOff val="25000"/>
                </a:srgbClr>
              </a:solidFill>
              <a:effectLst/>
              <a:uLnTx/>
              <a:uFillTx/>
              <a:latin typeface="Charter Roman" charset="0"/>
              <a:ea typeface="Charter Roman" charset="0"/>
              <a:cs typeface="Charter Roman" charset="0"/>
            </a:endParaRPr>
          </a:p>
          <a:p>
            <a:pPr marL="384048" lvl="2" indent="0">
              <a:buClr>
                <a:srgbClr val="E48312"/>
              </a:buClr>
              <a:buNone/>
              <a:defRPr/>
            </a:pPr>
            <a:endParaRPr kumimoji="0" lang="en-US" b="0" i="0" u="none" strike="noStrike" kern="1200" cap="none" spc="0" normalizeH="0" baseline="0" noProof="0" dirty="0">
              <a:ln>
                <a:noFill/>
              </a:ln>
              <a:solidFill>
                <a:srgbClr val="000000">
                  <a:lumMod val="75000"/>
                  <a:lumOff val="25000"/>
                </a:srgbClr>
              </a:solidFill>
              <a:effectLst/>
              <a:uLnTx/>
              <a:uFillTx/>
              <a:latin typeface="Charter Roman" charset="0"/>
              <a:ea typeface="Charter Roman" charset="0"/>
              <a:cs typeface="Charter Roman" charset="0"/>
            </a:endParaRPr>
          </a:p>
          <a:p>
            <a:pPr lvl="2">
              <a:buClr>
                <a:srgbClr val="E48312"/>
              </a:buClr>
              <a:defRPr/>
            </a:pPr>
            <a:endParaRPr kumimoji="0" lang="en-US" b="0" i="0" u="none" strike="noStrike" kern="1200" cap="none" spc="0" normalizeH="0" baseline="0" noProof="0" dirty="0">
              <a:ln>
                <a:noFill/>
              </a:ln>
              <a:solidFill>
                <a:srgbClr val="000000">
                  <a:lumMod val="75000"/>
                  <a:lumOff val="25000"/>
                </a:srgbClr>
              </a:solidFill>
              <a:effectLst/>
              <a:uLnTx/>
              <a:uFillTx/>
              <a:latin typeface="Charter Roman" charset="0"/>
              <a:ea typeface="Charter Roman" charset="0"/>
              <a:cs typeface="Charter Roman" charset="0"/>
            </a:endParaRPr>
          </a:p>
          <a:p>
            <a:pPr lvl="2">
              <a:buClr>
                <a:srgbClr val="E48312"/>
              </a:buClr>
              <a:defRPr/>
            </a:pPr>
            <a:endParaRPr lang="en-US" dirty="0">
              <a:latin typeface="Charter Roman" charset="0"/>
              <a:ea typeface="Charter Roman" charset="0"/>
              <a:cs typeface="Charter Roman" charset="0"/>
            </a:endParaRPr>
          </a:p>
        </p:txBody>
      </p:sp>
    </p:spTree>
    <p:extLst>
      <p:ext uri="{BB962C8B-B14F-4D97-AF65-F5344CB8AC3E}">
        <p14:creationId xmlns:p14="http://schemas.microsoft.com/office/powerpoint/2010/main" val="185319748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87</TotalTime>
  <Words>642</Words>
  <Application>Microsoft Office PowerPoint</Application>
  <PresentationFormat>Widescreen</PresentationFormat>
  <Paragraphs>94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Calibri</vt:lpstr>
      <vt:lpstr>Calibri Light</vt:lpstr>
      <vt:lpstr>Charter Roman</vt:lpstr>
      <vt:lpstr>Retrospect</vt:lpstr>
      <vt:lpstr>Final Project Food Waste Reduction Platform</vt:lpstr>
      <vt:lpstr>Teamwork</vt:lpstr>
      <vt:lpstr>Solution</vt:lpstr>
      <vt:lpstr>Version Control System</vt:lpstr>
      <vt:lpstr>Challenges</vt:lpstr>
      <vt:lpstr>Challenges</vt:lpstr>
      <vt:lpstr>Demo</vt:lpstr>
      <vt:lpstr>Future Enhancement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Food Waste Reduction Platform</dc:title>
  <dc:creator>Sazzad</dc:creator>
  <cp:lastModifiedBy>Jake E</cp:lastModifiedBy>
  <cp:revision>25</cp:revision>
  <dcterms:created xsi:type="dcterms:W3CDTF">2024-03-03T22:51:22Z</dcterms:created>
  <dcterms:modified xsi:type="dcterms:W3CDTF">2024-08-08T20:21:25Z</dcterms:modified>
</cp:coreProperties>
</file>